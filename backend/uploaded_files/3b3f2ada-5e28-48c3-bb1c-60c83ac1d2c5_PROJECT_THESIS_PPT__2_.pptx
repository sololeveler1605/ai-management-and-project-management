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6" r:id="rId2"/>
    <p:sldId id="271" r:id="rId3"/>
    <p:sldId id="276" r:id="rId4"/>
    <p:sldId id="272" r:id="rId5"/>
    <p:sldId id="257" r:id="rId6"/>
    <p:sldId id="274" r:id="rId7"/>
    <p:sldId id="259" r:id="rId8"/>
    <p:sldId id="260" r:id="rId9"/>
    <p:sldId id="261" r:id="rId10"/>
    <p:sldId id="262" r:id="rId11"/>
    <p:sldId id="263" r:id="rId12"/>
    <p:sldId id="278" r:id="rId13"/>
    <p:sldId id="280" r:id="rId14"/>
  </p:sldIdLst>
  <p:sldSz cx="14630400" cy="8229600"/>
  <p:notesSz cx="8229600" cy="146304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Libre Baskerville" panose="02000000000000000000" pitchFamily="2" charset="0"/>
      <p:regular r:id="rId20"/>
    </p:embeddedFont>
    <p:embeddedFont>
      <p:font typeface="Monotype Corsiva" panose="03010101010201010101" pitchFamily="66" charset="0"/>
      <p:italic r:id="rId21"/>
    </p:embeddedFont>
    <p:embeddedFont>
      <p:font typeface="Open Sans" panose="020B0606030504020204" pitchFamily="34" charset="0"/>
      <p:regular r:id="rId22"/>
      <p:bold r:id="rId23"/>
      <p: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9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5T15:31:31.34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30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56071-9758-FD49-1960-DB896CA8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87B2C-E987-4983-5E47-E5F99BFDF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B6669-1F27-8A3A-73BA-0C1DE8E3A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9C1C0F-AEE0-447D-32F7-443978847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143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4C548-149C-9EDF-FA6C-9267E7C3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FB45C-3FCC-A5EE-32AA-AE942534A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C73A1-1115-9989-C163-149A455CE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F70D2-DB2F-850F-2BC0-C6EAD14E27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89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D656BCF-5689-8788-1978-6D44FD41D69A}"/>
                  </a:ext>
                </a:extLst>
              </p14:cNvPr>
              <p14:cNvContentPartPr/>
              <p14:nvPr/>
            </p14:nvContentPartPr>
            <p14:xfrm>
              <a:off x="13496760" y="732744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D656BCF-5689-8788-1978-6D44FD41D6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06760" y="7147440"/>
                <a:ext cx="180000" cy="360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50757B-5C6A-6D3D-4ED2-AB34E1213D63}"/>
              </a:ext>
            </a:extLst>
          </p:cNvPr>
          <p:cNvGraphicFramePr>
            <a:graphicFrameLocks noGrp="1"/>
          </p:cNvGraphicFramePr>
          <p:nvPr/>
        </p:nvGraphicFramePr>
        <p:xfrm>
          <a:off x="446409" y="111512"/>
          <a:ext cx="13169230" cy="79490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69230">
                  <a:extLst>
                    <a:ext uri="{9D8B030D-6E8A-4147-A177-3AD203B41FA5}">
                      <a16:colId xmlns:a16="http://schemas.microsoft.com/office/drawing/2014/main" val="3886008643"/>
                    </a:ext>
                  </a:extLst>
                </a:gridCol>
              </a:tblGrid>
              <a:tr h="1324837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694047"/>
                  </a:ext>
                </a:extLst>
              </a:tr>
              <a:tr h="13248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959027"/>
                  </a:ext>
                </a:extLst>
              </a:tr>
              <a:tr h="13248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822015"/>
                  </a:ext>
                </a:extLst>
              </a:tr>
              <a:tr h="13248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1110053"/>
                  </a:ext>
                </a:extLst>
              </a:tr>
              <a:tr h="13248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063009"/>
                  </a:ext>
                </a:extLst>
              </a:tr>
              <a:tr h="132483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4422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F108E7B-FDF4-574B-EBF4-DAC97627324C}"/>
              </a:ext>
            </a:extLst>
          </p:cNvPr>
          <p:cNvSpPr txBox="1"/>
          <p:nvPr/>
        </p:nvSpPr>
        <p:spPr>
          <a:xfrm>
            <a:off x="5817605" y="288038"/>
            <a:ext cx="2255747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i="1" dirty="0">
                <a:latin typeface="Monotype Corsiva" panose="03010101010201010101" pitchFamily="66" charset="0"/>
              </a:rPr>
              <a:t>Project</a:t>
            </a:r>
            <a:r>
              <a:rPr lang="en-US" sz="2800" i="1" dirty="0">
                <a:latin typeface="Monotype Corsiva" panose="03010101010201010101" pitchFamily="66" charset="0"/>
              </a:rPr>
              <a:t> Seminar</a:t>
            </a:r>
            <a:r>
              <a:rPr sz="2800" i="1" dirty="0">
                <a:latin typeface="Times New Roman"/>
              </a:rPr>
              <a:t> 
</a:t>
            </a:r>
            <a:r>
              <a:rPr sz="2800" i="1" dirty="0">
                <a:latin typeface="Monotype Corsiva" panose="03010101010201010101" pitchFamily="66" charset="0"/>
              </a:rPr>
              <a:t>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D6A13-AD02-D97E-CBE1-BBAFB35891A7}"/>
              </a:ext>
            </a:extLst>
          </p:cNvPr>
          <p:cNvSpPr txBox="1"/>
          <p:nvPr/>
        </p:nvSpPr>
        <p:spPr>
          <a:xfrm>
            <a:off x="211873" y="1094059"/>
            <a:ext cx="143055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latin typeface="Times New Roman"/>
              </a:rPr>
              <a:t>“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Driver Monitoring &amp; Accident Prevention System</a:t>
            </a:r>
            <a:r>
              <a:rPr sz="3200" b="1" dirty="0">
                <a:latin typeface="Times New Roman"/>
              </a:rPr>
              <a:t>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FEA7A6-3D96-028A-D587-44494B95698E}"/>
              </a:ext>
            </a:extLst>
          </p:cNvPr>
          <p:cNvSpPr txBox="1"/>
          <p:nvPr/>
        </p:nvSpPr>
        <p:spPr>
          <a:xfrm>
            <a:off x="5320015" y="1880213"/>
            <a:ext cx="309091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1" dirty="0">
                <a:latin typeface="Times New Roman"/>
              </a:rPr>
              <a:t>Partial fulfillment of Six Semester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B48D8-68E8-5A8E-6080-3E4F8CDBA11F}"/>
              </a:ext>
            </a:extLst>
          </p:cNvPr>
          <p:cNvSpPr txBox="1"/>
          <p:nvPr/>
        </p:nvSpPr>
        <p:spPr>
          <a:xfrm>
            <a:off x="5075662" y="2304399"/>
            <a:ext cx="360226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latin typeface="Times New Roman"/>
              </a:rPr>
              <a:t>Bachelor of </a:t>
            </a:r>
            <a:r>
              <a:rPr lang="en-US" sz="2000" b="1" dirty="0">
                <a:latin typeface="Times New Roman"/>
              </a:rPr>
              <a:t>Technology</a:t>
            </a:r>
            <a:r>
              <a:rPr sz="2000" b="1" dirty="0">
                <a:latin typeface="Times New Roman"/>
              </a:rPr>
              <a:t>
In
COMPUTER ENGINEERING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2481E-0FB5-6BEE-8AFB-3C841B035ACA}"/>
              </a:ext>
            </a:extLst>
          </p:cNvPr>
          <p:cNvSpPr txBox="1"/>
          <p:nvPr/>
        </p:nvSpPr>
        <p:spPr>
          <a:xfrm>
            <a:off x="4181707" y="3273722"/>
            <a:ext cx="60997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latin typeface="Times New Roman"/>
              </a:rPr>
              <a:t>Submitted By</a:t>
            </a:r>
          </a:p>
          <a:p>
            <a:pPr algn="ctr">
              <a:defRPr sz="1100">
                <a:latin typeface="Times New Roman"/>
              </a:defRPr>
            </a:pPr>
            <a:r>
              <a:rPr lang="en-US" sz="2000" dirty="0"/>
              <a:t>Piyush </a:t>
            </a:r>
            <a:r>
              <a:rPr lang="en-US" sz="2000" dirty="0" err="1"/>
              <a:t>Sondawale</a:t>
            </a:r>
            <a:r>
              <a:rPr sz="2000" dirty="0"/>
              <a:t>		</a:t>
            </a:r>
            <a:r>
              <a:rPr lang="en-US" sz="2000" dirty="0"/>
              <a:t>Sameer Meshram   </a:t>
            </a:r>
            <a:endParaRPr sz="2000" dirty="0"/>
          </a:p>
          <a:p>
            <a:pPr algn="ctr">
              <a:defRPr sz="1100">
                <a:latin typeface="Times New Roman"/>
              </a:defRPr>
            </a:pPr>
            <a:r>
              <a:rPr lang="en-US" sz="2000" dirty="0"/>
              <a:t>Nayan </a:t>
            </a:r>
            <a:r>
              <a:rPr lang="en-US" sz="2000" dirty="0" err="1"/>
              <a:t>Mandwalker</a:t>
            </a:r>
            <a:endParaRPr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2A7E8D-89D5-869E-0C41-1E22BD63FE89}"/>
              </a:ext>
            </a:extLst>
          </p:cNvPr>
          <p:cNvSpPr txBox="1"/>
          <p:nvPr/>
        </p:nvSpPr>
        <p:spPr>
          <a:xfrm>
            <a:off x="5817605" y="4697515"/>
            <a:ext cx="27353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>
                <a:latin typeface="Times New Roman"/>
              </a:rPr>
              <a:t>Under the Guidance of
</a:t>
            </a:r>
            <a:r>
              <a:rPr lang="en-US" b="1" dirty="0">
                <a:latin typeface="Times New Roman"/>
              </a:rPr>
              <a:t>PROF . K . SARODE</a:t>
            </a:r>
            <a:endParaRPr b="1" dirty="0">
              <a:latin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D45FF6-E954-C902-A5E7-E2D4A0083F62}"/>
              </a:ext>
            </a:extLst>
          </p:cNvPr>
          <p:cNvSpPr txBox="1"/>
          <p:nvPr/>
        </p:nvSpPr>
        <p:spPr>
          <a:xfrm>
            <a:off x="3481341" y="6914728"/>
            <a:ext cx="84605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latin typeface="Times New Roman"/>
              </a:rPr>
              <a:t>DEPARTMENT OF COMPUTER ENGINEERING
SMT. RADHIKATAI PANDAV COLLEGE OF ENGINEERING, NAGPUR
</a:t>
            </a:r>
            <a:r>
              <a:rPr sz="2000" b="1" dirty="0" err="1">
                <a:latin typeface="Times New Roman"/>
              </a:rPr>
              <a:t>Rashtrasant</a:t>
            </a:r>
            <a:r>
              <a:rPr sz="2000" b="1" dirty="0">
                <a:latin typeface="Times New Roman"/>
              </a:rPr>
              <a:t> </a:t>
            </a:r>
            <a:r>
              <a:rPr sz="2000" b="1" dirty="0" err="1">
                <a:latin typeface="Times New Roman"/>
              </a:rPr>
              <a:t>Tukdoji</a:t>
            </a:r>
            <a:r>
              <a:rPr sz="2000" b="1" dirty="0">
                <a:latin typeface="Times New Roman"/>
              </a:rPr>
              <a:t> Maharaj Nagpur University, Nagpur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CA91EE-51F6-5BB0-E46B-C245738B406A}"/>
              </a:ext>
            </a:extLst>
          </p:cNvPr>
          <p:cNvSpPr txBox="1"/>
          <p:nvPr/>
        </p:nvSpPr>
        <p:spPr>
          <a:xfrm>
            <a:off x="4181707" y="8549640"/>
            <a:ext cx="573328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latin typeface="Times New Roman"/>
              </a:rPr>
              <a:t>2024-2025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1BDD21F-80F0-2131-0777-D4414B32EBB3}"/>
              </a:ext>
            </a:extLst>
          </p:cNvPr>
          <p:cNvGraphicFramePr>
            <a:graphicFrameLocks noGrp="1"/>
          </p:cNvGraphicFramePr>
          <p:nvPr/>
        </p:nvGraphicFramePr>
        <p:xfrm>
          <a:off x="4728116" y="4222046"/>
          <a:ext cx="5452946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52946">
                  <a:extLst>
                    <a:ext uri="{9D8B030D-6E8A-4147-A177-3AD203B41FA5}">
                      <a16:colId xmlns:a16="http://schemas.microsoft.com/office/drawing/2014/main" val="39485986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/>
                        </a:rPr>
                        <a:t>  DEPARTMENT OF COMPUTER ENGINEERING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667492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C4270E99-2E0B-A4BA-E9F4-6EF85FDE46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662" y="5374273"/>
            <a:ext cx="1910080" cy="139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94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F7099-B5DB-A686-AA21-35600AE86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3BD49FD-F284-9FBD-1CCA-BBED1805D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497774"/>
              </p:ext>
            </p:extLst>
          </p:nvPr>
        </p:nvGraphicFramePr>
        <p:xfrm>
          <a:off x="1304693" y="0"/>
          <a:ext cx="10537902" cy="798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37902">
                  <a:extLst>
                    <a:ext uri="{9D8B030D-6E8A-4147-A177-3AD203B41FA5}">
                      <a16:colId xmlns:a16="http://schemas.microsoft.com/office/drawing/2014/main" val="443254544"/>
                    </a:ext>
                  </a:extLst>
                </a:gridCol>
              </a:tblGrid>
              <a:tr h="6877328">
                <a:tc>
                  <a:txBody>
                    <a:bodyPr/>
                    <a:lstStyle/>
                    <a:p>
                      <a:r>
                        <a:rPr lang="en-IN" sz="1800" b="1" i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  <a:p>
                      <a:pPr algn="ctr"/>
                      <a:r>
                        <a:rPr lang="en-IN" sz="3600" b="1" u="sng" kern="1200" dirty="0">
                          <a:solidFill>
                            <a:srgbClr val="5B2ECC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INDEX</a:t>
                      </a:r>
                      <a:r>
                        <a:rPr lang="en-IN" sz="3600" dirty="0">
                          <a:solidFill>
                            <a:srgbClr val="5B2ECC"/>
                          </a:solidFill>
                          <a:effectLst/>
                        </a:rPr>
                        <a:t> </a:t>
                      </a:r>
                    </a:p>
                    <a:p>
                      <a:r>
                        <a:rPr lang="en-IN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3200" b="1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TOPICS                                                         </a:t>
                      </a:r>
                      <a:endParaRPr lang="en-IN" sz="3200" u="sng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00050" indent="-400050" algn="l">
                        <a:lnSpc>
                          <a:spcPct val="150000"/>
                        </a:lnSpc>
                        <a:buFont typeface="+mj-lt"/>
                        <a:buAutoNum type="romanUcPeriod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</a:t>
                      </a:r>
                    </a:p>
                    <a:p>
                      <a:pPr marL="400050" marR="0" lvl="0" indent="-4000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romanUcPeriod"/>
                        <a:tabLst/>
                        <a:defRPr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LITERATURE SURVEY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00050" indent="-400050" algn="l">
                        <a:lnSpc>
                          <a:spcPct val="150000"/>
                        </a:lnSpc>
                        <a:buFont typeface="+mj-lt"/>
                        <a:buAutoNum type="romanUcPeriod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EXITING WORK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00050" indent="-400050" algn="l">
                        <a:lnSpc>
                          <a:spcPct val="150000"/>
                        </a:lnSpc>
                        <a:buFont typeface="+mj-lt"/>
                        <a:buAutoNum type="romanUcPeriod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MODULES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00050" indent="-400050" algn="l">
                        <a:lnSpc>
                          <a:spcPct val="150000"/>
                        </a:lnSpc>
                        <a:buFont typeface="+mj-lt"/>
                        <a:buAutoNum type="romanUcPeriod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IMPLEMENTATION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00050" indent="-400050" algn="l">
                        <a:lnSpc>
                          <a:spcPct val="150000"/>
                        </a:lnSpc>
                        <a:buFont typeface="+mj-lt"/>
                        <a:buAutoNum type="romanUcPeriod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EXPERIMENTAL RESULT (OUTPUT &amp; GRAPHS)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00050" indent="-400050" algn="l">
                        <a:lnSpc>
                          <a:spcPct val="150000"/>
                        </a:lnSpc>
                        <a:buFont typeface="+mj-lt"/>
                        <a:buAutoNum type="romanUcPeriod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CONCLUSION</a:t>
                      </a:r>
                    </a:p>
                    <a:p>
                      <a:pPr marL="400050" indent="-400050" algn="l">
                        <a:lnSpc>
                          <a:spcPct val="150000"/>
                        </a:lnSpc>
                        <a:buFont typeface="+mj-lt"/>
                        <a:buAutoNum type="romanUcPeriod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FUTURE SCOPE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400050" indent="-400050" algn="l">
                        <a:lnSpc>
                          <a:spcPct val="150000"/>
                        </a:lnSpc>
                        <a:buFont typeface="+mj-lt"/>
                        <a:buAutoNum type="romanUcPeriod"/>
                      </a:pPr>
                      <a:r>
                        <a:rPr lang="en-US" sz="2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REFERENCES</a:t>
                      </a:r>
                      <a:endParaRPr lang="en-IN" sz="2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IN" sz="18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IN" dirty="0">
                          <a:effectLst/>
                        </a:rPr>
                        <a:t> 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14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5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117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ABSTRACT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468351" y="2074127"/>
            <a:ext cx="8463775" cy="5553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00050" indent="-400050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present a real-time, vision-based smart driver monitoring and accident prevention system that monitors: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Eye movements 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Blink frequency (EAR)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Mouth opening (MOR)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Head orientation (NLR).</a:t>
            </a:r>
          </a:p>
          <a:p>
            <a:pPr marL="400050" indent="-400050" algn="l">
              <a:lnSpc>
                <a:spcPct val="150000"/>
              </a:lnSpc>
              <a:buFont typeface="+mj-lt"/>
              <a:buAutoNum type="romanUcPeriod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system links visual fatigue indicators to an adaptive safety algorithm that issues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Graded alerts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Recommends breaks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Keywords</a:t>
            </a: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Real-Time Drowsiness Detection, Facial Recognition Monitoring, Driver Safety Enhancement, Fatigue Alert System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F163D-3F2B-66F1-5946-028B4E1D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0FD3E5-5979-E59F-E1F2-6331BA31156E}"/>
              </a:ext>
            </a:extLst>
          </p:cNvPr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83588DA-57B0-430A-7961-712E7CBF7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BDBB60C-FE8E-0077-B4F7-0255599719FB}"/>
              </a:ext>
            </a:extLst>
          </p:cNvPr>
          <p:cNvSpPr/>
          <p:nvPr/>
        </p:nvSpPr>
        <p:spPr>
          <a:xfrm>
            <a:off x="6280190" y="181498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AI-Based Smart Driver Monitoring &amp; Accident Prevention System</a:t>
            </a:r>
            <a:endParaRPr lang="en-US" sz="44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38EB570-07C5-031A-2CAB-F5723334428D}"/>
              </a:ext>
            </a:extLst>
          </p:cNvPr>
          <p:cNvSpPr/>
          <p:nvPr/>
        </p:nvSpPr>
        <p:spPr>
          <a:xfrm>
            <a:off x="6280190" y="428148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Drowsy driving causes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70,000–80,000 crashes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1,000–2,000 deaths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worldwide annually. This system uses facial recognition and deep learning to detect fatigue in real time — and alert drivers before disaster strikes.</a:t>
            </a:r>
            <a:endParaRPr lang="en-US" sz="17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A091A44-DEFB-9864-9820-4E4BEBA90229}"/>
              </a:ext>
            </a:extLst>
          </p:cNvPr>
          <p:cNvSpPr/>
          <p:nvPr/>
        </p:nvSpPr>
        <p:spPr>
          <a:xfrm>
            <a:off x="5887845" y="425354"/>
            <a:ext cx="3534936" cy="426244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81759D3-1316-3AB5-11EB-B25468C5296C}"/>
              </a:ext>
            </a:extLst>
          </p:cNvPr>
          <p:cNvSpPr/>
          <p:nvPr/>
        </p:nvSpPr>
        <p:spPr>
          <a:xfrm>
            <a:off x="5991164" y="468395"/>
            <a:ext cx="3320104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 1: INTRODUCTION</a:t>
            </a:r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568D5B-3D1E-69FC-16D9-F0A3573E9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608" y="7481671"/>
            <a:ext cx="1914792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073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9183" y="531018"/>
            <a:ext cx="3983471" cy="388977"/>
          </a:xfrm>
          <a:prstGeom prst="roundRect">
            <a:avLst>
              <a:gd name="adj" fmla="val 6544"/>
            </a:avLst>
          </a:prstGeom>
          <a:noFill/>
          <a:ln w="7620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195149" y="625792"/>
            <a:ext cx="2190393" cy="207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 2: LITERATURE SURVEY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79183" y="919996"/>
            <a:ext cx="711291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Researchers Have Found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1079183" y="1700689"/>
            <a:ext cx="12471916" cy="1084421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02043" y="1723549"/>
            <a:ext cx="722948" cy="1038701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27904" y="2073473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68937" y="1904286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Dr. M. Ramya Devi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968937" y="2273022"/>
            <a:ext cx="1137856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+ RNN for temporal eye/facial analysis — reduces false alarms in real-time fatigue detection.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79183" y="2929057"/>
            <a:ext cx="12471916" cy="1084421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102043" y="2951917"/>
            <a:ext cx="722948" cy="1038701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27904" y="3301841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968937" y="313265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Magán et al.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968937" y="3501390"/>
            <a:ext cx="1137856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on sequential image frames improves accuracy over single-frame detection.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79183" y="4157424"/>
            <a:ext cx="12471916" cy="1084421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102043" y="4180284"/>
            <a:ext cx="722948" cy="1038701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327904" y="4530209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968937" y="4361021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Zambrano et al.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968937" y="4729758"/>
            <a:ext cx="1137856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 + MAR with CNN detects fatigue, distraction &amp; emotion under varied lighting conditions.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79183" y="5385792"/>
            <a:ext cx="12471916" cy="1084421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102043" y="5408652"/>
            <a:ext cx="722948" cy="1038701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327904" y="5758577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968937" y="558938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Krishna et al.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968937" y="5958126"/>
            <a:ext cx="1137856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 + Vision Transformers achieve ~96% accuracy — outperforming CNN-only models.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79183" y="6614160"/>
            <a:ext cx="12471916" cy="1084421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02043" y="6637020"/>
            <a:ext cx="722948" cy="1038701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327904" y="6986945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968937" y="681775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Kumar et al.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968937" y="7186493"/>
            <a:ext cx="1137856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CNN-based blink rate &amp; eye closure analysis optimized for real-time Indian road conditions.</a:t>
            </a:r>
            <a:endParaRPr lang="en-US" sz="14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E4CE60B-4EB9-EF90-CEF3-1A2D5C828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6563" y="7784901"/>
            <a:ext cx="1914792" cy="3394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887764" y="581619"/>
            <a:ext cx="7231499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4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32575" y="2479476"/>
            <a:ext cx="2535107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8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Three-Layer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3773" y="3382922"/>
            <a:ext cx="2877015" cy="3862567"/>
          </a:xfrm>
          <a:prstGeom prst="roundRect">
            <a:avLst>
              <a:gd name="adj" fmla="val 4846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75" y="3382922"/>
            <a:ext cx="151162" cy="37666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9933" y="3629678"/>
            <a:ext cx="1831062" cy="49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Presentation Layer (UI)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8678" y="4407217"/>
            <a:ext cx="2410063" cy="243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showing real-time alertness status, session data, drowsiness alerts, and break reminders.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887504" y="3382922"/>
            <a:ext cx="2565803" cy="3862567"/>
          </a:xfrm>
          <a:prstGeom prst="roundRect">
            <a:avLst>
              <a:gd name="adj" fmla="val 4846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188" y="3382922"/>
            <a:ext cx="155011" cy="38625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81368" y="3629677"/>
            <a:ext cx="2014880" cy="49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Fatigue Detection Layer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081368" y="4127835"/>
            <a:ext cx="2371939" cy="326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000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 camera captures eye closure, head position, and yawning — analyzed by CNN models to generate live fatigue scores</a:t>
            </a:r>
            <a:r>
              <a:rPr lang="en-US" sz="12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723101" y="3382922"/>
            <a:ext cx="2322553" cy="3862567"/>
          </a:xfrm>
          <a:prstGeom prst="roundRect">
            <a:avLst>
              <a:gd name="adj" fmla="val 4846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911" y="3382922"/>
            <a:ext cx="155011" cy="38625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6209" y="3656886"/>
            <a:ext cx="1831062" cy="498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Alert &amp; Adaptation Layer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943786" y="4407217"/>
            <a:ext cx="2172058" cy="2838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Dynamically adjusts alert intensity and assistance features based on detected fatigue level.</a:t>
            </a:r>
            <a:endParaRPr lang="en-US" sz="2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72" y="1561267"/>
            <a:ext cx="3598664" cy="574417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00251" y="7647445"/>
            <a:ext cx="110045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 3.1 — EAR threshold decision flow: video input → facial landmarks → drowsy / not drowsy classification</a:t>
            </a:r>
            <a:endParaRPr lang="en-US" sz="1600" dirty="0"/>
          </a:p>
        </p:txBody>
      </p:sp>
      <p:sp>
        <p:nvSpPr>
          <p:cNvPr id="20" name="Shape 0">
            <a:extLst>
              <a:ext uri="{FF2B5EF4-FFF2-40B4-BE49-F238E27FC236}">
                <a16:creationId xmlns:a16="http://schemas.microsoft.com/office/drawing/2014/main" id="{103837CC-EDAC-4ADE-929B-D1E4CE232E75}"/>
              </a:ext>
            </a:extLst>
          </p:cNvPr>
          <p:cNvSpPr/>
          <p:nvPr/>
        </p:nvSpPr>
        <p:spPr>
          <a:xfrm>
            <a:off x="431116" y="535067"/>
            <a:ext cx="3895557" cy="544948"/>
          </a:xfrm>
          <a:prstGeom prst="roundRect">
            <a:avLst>
              <a:gd name="adj" fmla="val 6699"/>
            </a:avLst>
          </a:prstGeom>
          <a:noFill/>
          <a:ln w="7620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57F89DE0-D3E8-B67F-D08A-9796479603A5}"/>
              </a:ext>
            </a:extLst>
          </p:cNvPr>
          <p:cNvSpPr/>
          <p:nvPr/>
        </p:nvSpPr>
        <p:spPr>
          <a:xfrm>
            <a:off x="613773" y="759589"/>
            <a:ext cx="3895557" cy="449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200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 3: EXISTING WORK</a:t>
            </a:r>
            <a:endParaRPr lang="en-US" sz="2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6FCFFE6-3C51-E073-C75D-326A741A73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701" y="7429451"/>
            <a:ext cx="1914792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81169"/>
            <a:ext cx="295302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37498" y="856774"/>
            <a:ext cx="18924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 4: MODULES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93790" y="13133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Modules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362319"/>
            <a:ext cx="453628" cy="453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0994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UI &amp; Control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589853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Start/stop monitoring, live camera feed, and dashboard showing Safe / Drowsy / Distracted status with visual warnings. </a:t>
            </a:r>
            <a:r>
              <a:rPr lang="en-US" sz="17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with Python (Streamlit).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362319"/>
            <a:ext cx="453628" cy="453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6884" y="3099435"/>
            <a:ext cx="51346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Video Acquisition &amp; Face Detection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358985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Captures real-time frames via webcam or IP camera using OpenCV, isolating the facial region for downstream analysis.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132189"/>
            <a:ext cx="453628" cy="453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5869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Fatigue Detection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93790" y="635972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Calculates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(eye closure ≥ 2s = drowsy) and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(yawn detection) using facial landmark analysis.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132189"/>
            <a:ext cx="453628" cy="4536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56884" y="5869305"/>
            <a:ext cx="36266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Attention &amp; Alert System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456884" y="6359723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3D head pose estimation detects distraction (looking left/right/down). Triggers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audio alarms, voice warnings &amp; visual alerts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0C8846-CF5E-B486-ED7C-2D0BD34A93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93306" y="7448431"/>
            <a:ext cx="1914792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561" y="494466"/>
            <a:ext cx="3724403" cy="475060"/>
          </a:xfrm>
          <a:prstGeom prst="roundRect">
            <a:avLst>
              <a:gd name="adj" fmla="val 6340"/>
            </a:avLst>
          </a:prstGeom>
          <a:noFill/>
          <a:ln w="7620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50225" y="649605"/>
            <a:ext cx="2349460" cy="250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 5: IMPLEMENTATION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19376" y="1043940"/>
            <a:ext cx="5709761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Code Highlights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19376" y="2175153"/>
            <a:ext cx="3079433" cy="2539127"/>
          </a:xfrm>
          <a:prstGeom prst="roundRect">
            <a:avLst>
              <a:gd name="adj" fmla="val 4321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16" y="2175153"/>
            <a:ext cx="91440" cy="25391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6317" y="2403515"/>
            <a:ext cx="2554129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Session Timer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16317" y="2910840"/>
            <a:ext cx="2554129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Tracks elapsed driving time and displays it live using </a:t>
            </a:r>
            <a:r>
              <a:rPr lang="en-US" sz="16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datetime.now()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Streamlit metrics.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985022" y="2175153"/>
            <a:ext cx="3079433" cy="2539127"/>
          </a:xfrm>
          <a:prstGeom prst="roundRect">
            <a:avLst>
              <a:gd name="adj" fmla="val 4321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162" y="2175153"/>
            <a:ext cx="91440" cy="25391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81964" y="2403515"/>
            <a:ext cx="2554129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WebRTC Camera Stream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81964" y="3231952"/>
            <a:ext cx="2554129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 video via </a:t>
            </a:r>
            <a:r>
              <a:rPr lang="en-US" sz="16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webrtc_streamer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</a:t>
            </a:r>
            <a:r>
              <a:rPr lang="en-US" sz="16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DrowsinessProcessor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real-time frame analysis.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19376" y="4900493"/>
            <a:ext cx="3079433" cy="2539127"/>
          </a:xfrm>
          <a:prstGeom prst="roundRect">
            <a:avLst>
              <a:gd name="adj" fmla="val 4321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16" y="4900493"/>
            <a:ext cx="91440" cy="25391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16317" y="5128855"/>
            <a:ext cx="2554129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Status Classification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1016317" y="5957292"/>
            <a:ext cx="2554129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Driver state (</a:t>
            </a:r>
            <a:r>
              <a:rPr lang="en-US" sz="16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safe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6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drowsy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6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distracted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6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drives color-coded UI alerts dynamically.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3985022" y="4900493"/>
            <a:ext cx="3079433" cy="2539127"/>
          </a:xfrm>
          <a:prstGeom prst="roundRect">
            <a:avLst>
              <a:gd name="adj" fmla="val 4321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162" y="4900493"/>
            <a:ext cx="91440" cy="253912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281964" y="5128855"/>
            <a:ext cx="2554129" cy="64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Active Mode Display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4281964" y="5957292"/>
            <a:ext cx="2554129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Shows Day/Night mode, yawn detection, face count, and CNN status in a live two-column panel.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7573566" y="2175153"/>
            <a:ext cx="6345079" cy="1351478"/>
          </a:xfrm>
          <a:prstGeom prst="roundRect">
            <a:avLst>
              <a:gd name="adj" fmla="val 2282"/>
            </a:avLst>
          </a:prstGeom>
          <a:solidFill>
            <a:srgbClr val="EEE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7563326" y="2175153"/>
            <a:ext cx="6365558" cy="1351478"/>
          </a:xfrm>
          <a:prstGeom prst="roundRect">
            <a:avLst>
              <a:gd name="adj" fmla="val 2282"/>
            </a:avLst>
          </a:prstGeom>
          <a:solidFill>
            <a:srgbClr val="EEED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7"/>
          <p:cNvSpPr/>
          <p:nvPr/>
        </p:nvSpPr>
        <p:spPr>
          <a:xfrm>
            <a:off x="7820263" y="2380655"/>
            <a:ext cx="5851684" cy="940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 = s.get("status_cls", "safe")</a:t>
            </a:r>
            <a:endParaRPr lang="en-US" sz="160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 == "safe":</a:t>
            </a:r>
            <a:endParaRPr lang="en-US" sz="1600" dirty="0"/>
          </a:p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st.success("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573566" y="3736181"/>
            <a:ext cx="6345079" cy="2897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DRIVER IS SAFE")elif sc == "drowsy": st.error("</a:t>
            </a: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DROWSY! WAKE UP!")elif sc == "distracted": st.warning("</a:t>
            </a: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DISTRACTED!")elif sc == "warning": st.warning("</a:t>
            </a: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⚡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LOW BLINK RATE!")else: st.info("</a:t>
            </a: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❌</a:t>
            </a: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 FACE DETECTED")</a:t>
            </a:r>
            <a:endParaRPr lang="en-US" sz="1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ABB0BC4-3DE0-91C0-8902-6D8C2EF55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4551" y="7417318"/>
            <a:ext cx="1914792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22313" y="296848"/>
            <a:ext cx="4698507" cy="440932"/>
          </a:xfrm>
          <a:prstGeom prst="roundRect">
            <a:avLst>
              <a:gd name="adj" fmla="val 7091"/>
            </a:avLst>
          </a:prstGeom>
          <a:noFill/>
          <a:ln w="7620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714962" y="517314"/>
            <a:ext cx="4405858" cy="25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 6: EXPERIMENTAL RESULTS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156606" y="1609114"/>
            <a:ext cx="5229922" cy="92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4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Output &amp; Detection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3506345" y="2740154"/>
            <a:ext cx="7825502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0.336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922190" y="3253156"/>
            <a:ext cx="1417558" cy="29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EAR (Normal</a:t>
            </a: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718218" y="3579384"/>
            <a:ext cx="7825502" cy="29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Threshold: 0.160 — eye closure triggers drowsy alert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96919" y="4030599"/>
            <a:ext cx="7825502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15.6%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710317" y="4550679"/>
            <a:ext cx="1417558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PERCLOS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759288" y="4904727"/>
            <a:ext cx="7825502" cy="288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Eyes closed % in last 60s — alarm triggers at 20%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6942" y="5334466"/>
            <a:ext cx="7825502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5/min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6710317" y="5860841"/>
            <a:ext cx="1417558" cy="318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Blink Rate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670078" y="6138418"/>
            <a:ext cx="7825502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Below 8/min triggers early drowsiness warning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06942" y="6665834"/>
            <a:ext cx="7825502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17%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6304571" y="7143232"/>
            <a:ext cx="2230244" cy="16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CNN Eye Closed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58816" y="7484983"/>
            <a:ext cx="7825502" cy="218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MobileNetV2 probability — Eyes Open confirmed</a:t>
            </a:r>
            <a:endParaRPr lang="en-US" sz="16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97631" cy="8229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145649" y="12097345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 6.2:</a:t>
            </a: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Real-time detection — green (Safe), red (Drowsy, eyes closed), yellow (Distracted, MOR: 0.68 yawning detected).</a:t>
            </a:r>
            <a:endParaRPr lang="en-US" sz="85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65BE26D8-0EA8-0D4D-418D-0B9E92723BD2}"/>
              </a:ext>
            </a:extLst>
          </p:cNvPr>
          <p:cNvSpPr/>
          <p:nvPr/>
        </p:nvSpPr>
        <p:spPr>
          <a:xfrm>
            <a:off x="10589382" y="2271715"/>
            <a:ext cx="3476876" cy="1443460"/>
          </a:xfrm>
          <a:prstGeom prst="roundRect">
            <a:avLst>
              <a:gd name="adj" fmla="val 2371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US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endParaRPr lang="en-US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Eyes open, head forward. Green status. EAR normal, calibration active</a:t>
            </a:r>
            <a:endParaRPr lang="en-IN" dirty="0"/>
          </a:p>
          <a:p>
            <a:endParaRPr lang="en-US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34232217-56EA-348A-AA41-EE38DD40AEEB}"/>
              </a:ext>
            </a:extLst>
          </p:cNvPr>
          <p:cNvSpPr/>
          <p:nvPr/>
        </p:nvSpPr>
        <p:spPr>
          <a:xfrm>
            <a:off x="10713642" y="2389831"/>
            <a:ext cx="1417558" cy="171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1350"/>
              </a:lnSpc>
              <a:buNone/>
            </a:pPr>
            <a:endParaRPr lang="en-US" dirty="0">
              <a:solidFill>
                <a:srgbClr val="000000"/>
              </a:solidFill>
              <a:latin typeface="Libre Baskerville" pitchFamily="34" charset="0"/>
              <a:ea typeface="Libre Baskerville" pitchFamily="34" charset="-122"/>
              <a:cs typeface="Libre Baskerville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✅</a:t>
            </a:r>
            <a:r>
              <a:rPr lang="en-US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Safe</a:t>
            </a:r>
            <a:endParaRPr lang="en-US" dirty="0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CD050EB7-4FD4-CB14-B061-EA3552844E33}"/>
              </a:ext>
            </a:extLst>
          </p:cNvPr>
          <p:cNvSpPr/>
          <p:nvPr/>
        </p:nvSpPr>
        <p:spPr>
          <a:xfrm>
            <a:off x="10589382" y="4189147"/>
            <a:ext cx="3476876" cy="1443460"/>
          </a:xfrm>
          <a:prstGeom prst="roundRect">
            <a:avLst>
              <a:gd name="adj" fmla="val 2371"/>
            </a:avLst>
          </a:prstGeom>
          <a:solidFill>
            <a:srgbClr val="EAE8F3"/>
          </a:solidFill>
          <a:ln/>
        </p:spPr>
        <p:txBody>
          <a:bodyPr/>
          <a:lstStyle/>
          <a:p>
            <a:pPr>
              <a:lnSpc>
                <a:spcPts val="1350"/>
              </a:lnSpc>
            </a:pPr>
            <a:endParaRPr lang="en-US" dirty="0">
              <a:solidFill>
                <a:srgbClr val="000000"/>
              </a:solidFill>
              <a:latin typeface="Libre Baskerville" pitchFamily="34" charset="0"/>
              <a:ea typeface="Libre Baskerville" pitchFamily="34" charset="-122"/>
              <a:cs typeface="Libre Baskerville" pitchFamily="34" charset="-120"/>
            </a:endParaRPr>
          </a:p>
          <a:p>
            <a:pPr>
              <a:lnSpc>
                <a:spcPts val="1350"/>
              </a:lnSpc>
            </a:pPr>
            <a:r>
              <a:rPr lang="en-US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⚠️</a:t>
            </a:r>
            <a:r>
              <a:rPr lang="en-US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Drowsy</a:t>
            </a:r>
          </a:p>
          <a:p>
            <a:pPr>
              <a:lnSpc>
                <a:spcPts val="1350"/>
              </a:lnSpc>
            </a:pPr>
            <a:endParaRPr lang="en-US" dirty="0">
              <a:solidFill>
                <a:srgbClr val="49495A"/>
              </a:solidFill>
              <a:latin typeface="Libre Baskerville" pitchFamily="34" charset="0"/>
            </a:endParaRPr>
          </a:p>
          <a:p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Eyes closed detected. Red alert fires. EAR drops below threshold</a:t>
            </a:r>
            <a:endParaRPr lang="en-US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4B97E8FD-09DC-6433-E9DF-0A4437D21C11}"/>
              </a:ext>
            </a:extLst>
          </p:cNvPr>
          <p:cNvSpPr/>
          <p:nvPr/>
        </p:nvSpPr>
        <p:spPr>
          <a:xfrm>
            <a:off x="10589382" y="6038229"/>
            <a:ext cx="3476876" cy="1443460"/>
          </a:xfrm>
          <a:prstGeom prst="roundRect">
            <a:avLst>
              <a:gd name="adj" fmla="val 2371"/>
            </a:avLst>
          </a:prstGeom>
          <a:solidFill>
            <a:srgbClr val="EAE8F3"/>
          </a:solidFill>
          <a:ln/>
        </p:spPr>
        <p:txBody>
          <a:bodyPr/>
          <a:lstStyle/>
          <a:p>
            <a:pPr>
              <a:lnSpc>
                <a:spcPts val="1350"/>
              </a:lnSpc>
            </a:pPr>
            <a:endParaRPr lang="en-US" dirty="0">
              <a:solidFill>
                <a:srgbClr val="000000"/>
              </a:solidFill>
              <a:latin typeface="Libre Baskerville" pitchFamily="34" charset="0"/>
              <a:ea typeface="Libre Baskerville" pitchFamily="34" charset="-122"/>
              <a:cs typeface="Libre Baskerville" pitchFamily="34" charset="-120"/>
            </a:endParaRPr>
          </a:p>
          <a:p>
            <a:pPr>
              <a:lnSpc>
                <a:spcPts val="1350"/>
              </a:lnSpc>
            </a:pPr>
            <a:r>
              <a:rPr lang="en-US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⚡</a:t>
            </a:r>
            <a:r>
              <a:rPr lang="en-US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Distracted</a:t>
            </a:r>
          </a:p>
          <a:p>
            <a:pPr>
              <a:lnSpc>
                <a:spcPts val="1350"/>
              </a:lnSpc>
            </a:pPr>
            <a:endParaRPr lang="en-US" dirty="0">
              <a:solidFill>
                <a:srgbClr val="49495A"/>
              </a:solidFill>
              <a:latin typeface="Libre Baskerville" pitchFamily="34" charset="0"/>
              <a:ea typeface="Libre Baskerville" pitchFamily="34" charset="-122"/>
              <a:cs typeface="Libre Baskerville" pitchFamily="34" charset="-120"/>
            </a:endParaRPr>
          </a:p>
          <a:p>
            <a:r>
              <a:rPr lang="en-US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Yawning or gaze deviation. Yellow warning. MAR: 0.68 flagged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3A308D4-2FCD-AE33-E225-61FC46C16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608" y="7466736"/>
            <a:ext cx="1914792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91572" y="664905"/>
            <a:ext cx="3187326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35280" y="734515"/>
            <a:ext cx="3043617" cy="405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 7: CONCLUSION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280190" y="1578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Conclusion</a:t>
            </a:r>
            <a:endParaRPr lang="en-US" sz="4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200" y="2634377"/>
            <a:ext cx="340162" cy="340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17306" y="2627352"/>
            <a:ext cx="45330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Adaptive &amp; Personalized Safety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017306" y="3117771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Unlike traditional alerts, this system personalizes interventions — improving reaction time and reducing crash risk.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200" y="4304228"/>
            <a:ext cx="340162" cy="3401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17306" y="4297204"/>
            <a:ext cx="48008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Real-Time Fatigue Interpretation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017306" y="4787622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eye closure, head movements, and yawning to provide timely alerts and recommend breaks.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5200" y="5974080"/>
            <a:ext cx="340162" cy="3401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17306" y="5967055"/>
            <a:ext cx="36087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Privacy-First, On-Device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017306" y="645747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implementation ensures offline functionality and secure biometric data management — no cloud dependency.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E066C55-9CEC-DF0F-FE08-FFFD49CCC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2260" y="7515125"/>
            <a:ext cx="1914792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4260" y="270153"/>
            <a:ext cx="3548960" cy="406241"/>
          </a:xfrm>
          <a:prstGeom prst="roundRect">
            <a:avLst>
              <a:gd name="adj" fmla="val 6282"/>
            </a:avLst>
          </a:prstGeom>
          <a:noFill/>
          <a:ln w="7620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089779" y="360282"/>
            <a:ext cx="3548960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 8: FUTURE SCOPE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4260" y="1090970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What's Next</a:t>
            </a:r>
            <a:endParaRPr lang="en-US" sz="4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60" y="2054423"/>
            <a:ext cx="1797010" cy="1797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4260" y="4100632"/>
            <a:ext cx="3098483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IoT &amp; Fleet Integration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744260" y="4884777"/>
            <a:ext cx="3098483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 instant alerts to family, fleet managers, or vehicle owners. Support commercial transport and public fleets.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940" y="2054423"/>
            <a:ext cx="1797129" cy="17971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91940" y="4100751"/>
            <a:ext cx="3098602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Night Vision &amp; Emotion AI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4091940" y="4884896"/>
            <a:ext cx="3098602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Infrared cameras for low-light monitoring; emotion and stress detection to prevent risky driver behavior.</a:t>
            </a:r>
            <a:endParaRPr lang="en-US" sz="1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739" y="2054423"/>
            <a:ext cx="1797129" cy="17971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39739" y="4100751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Wearables &amp; GPS</a:t>
            </a:r>
            <a:endParaRPr lang="en-US" sz="2050" dirty="0"/>
          </a:p>
        </p:txBody>
      </p:sp>
      <p:sp>
        <p:nvSpPr>
          <p:cNvPr id="13" name="Text 8"/>
          <p:cNvSpPr/>
          <p:nvPr/>
        </p:nvSpPr>
        <p:spPr>
          <a:xfrm>
            <a:off x="7439739" y="4552593"/>
            <a:ext cx="309860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Heart rate monitoring via smart wearables; GPS tracking for emergency location alerts.</a:t>
            </a:r>
            <a:endParaRPr lang="en-US" sz="16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7539" y="2054423"/>
            <a:ext cx="1797129" cy="179712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7539" y="4100751"/>
            <a:ext cx="3098602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Vehicle Control Integration</a:t>
            </a:r>
            <a:endParaRPr lang="en-US" sz="2050" dirty="0"/>
          </a:p>
        </p:txBody>
      </p:sp>
      <p:sp>
        <p:nvSpPr>
          <p:cNvPr id="16" name="Text 10"/>
          <p:cNvSpPr/>
          <p:nvPr/>
        </p:nvSpPr>
        <p:spPr>
          <a:xfrm>
            <a:off x="10787539" y="4884896"/>
            <a:ext cx="3098602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Auto-reduce speed, apply brakes, or activate lane assist when critical drowsiness is detected.</a:t>
            </a:r>
            <a:endParaRPr lang="en-US" sz="16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BAE6732-8D65-0411-B3C1-F2832E9BE3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5608" y="7392860"/>
            <a:ext cx="1914792" cy="714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FE0B8-A116-CAA4-71E7-1061FA7E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8261395C-1042-1353-58A0-A6B531268917}"/>
              </a:ext>
            </a:extLst>
          </p:cNvPr>
          <p:cNvSpPr/>
          <p:nvPr/>
        </p:nvSpPr>
        <p:spPr>
          <a:xfrm>
            <a:off x="1079183" y="919996"/>
            <a:ext cx="7112913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</a:rPr>
              <a:t>REFERENCES</a:t>
            </a:r>
            <a:endParaRPr lang="en-US" sz="35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7AC7E6B-F006-5F1F-66C1-FB3DD3F56FD5}"/>
              </a:ext>
            </a:extLst>
          </p:cNvPr>
          <p:cNvSpPr/>
          <p:nvPr/>
        </p:nvSpPr>
        <p:spPr>
          <a:xfrm>
            <a:off x="1079183" y="1700689"/>
            <a:ext cx="12471916" cy="1084421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C36627B-FA4C-EF67-6B1C-CA9CD75AF296}"/>
              </a:ext>
            </a:extLst>
          </p:cNvPr>
          <p:cNvSpPr/>
          <p:nvPr/>
        </p:nvSpPr>
        <p:spPr>
          <a:xfrm>
            <a:off x="1102043" y="1723549"/>
            <a:ext cx="722948" cy="1038701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E751AA-BD01-DE00-4FA4-DBBE0539ECCE}"/>
              </a:ext>
            </a:extLst>
          </p:cNvPr>
          <p:cNvSpPr/>
          <p:nvPr/>
        </p:nvSpPr>
        <p:spPr>
          <a:xfrm>
            <a:off x="1327904" y="2073473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F1CD67-B795-C20E-D6FA-3AF06CD91768}"/>
              </a:ext>
            </a:extLst>
          </p:cNvPr>
          <p:cNvSpPr/>
          <p:nvPr/>
        </p:nvSpPr>
        <p:spPr>
          <a:xfrm>
            <a:off x="1968937" y="1904286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Dr. M. Ramya Devi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C52ABB7-134F-E959-E2AD-7AEB57726D8A}"/>
              </a:ext>
            </a:extLst>
          </p:cNvPr>
          <p:cNvSpPr/>
          <p:nvPr/>
        </p:nvSpPr>
        <p:spPr>
          <a:xfrm>
            <a:off x="1968937" y="2273022"/>
            <a:ext cx="1137856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 + RNN for temporal eye/facial analysis — reduces false alarms in real-time fatigue detection.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B876BA5-BF0B-0859-CD72-51FA5AB11DD2}"/>
              </a:ext>
            </a:extLst>
          </p:cNvPr>
          <p:cNvSpPr/>
          <p:nvPr/>
        </p:nvSpPr>
        <p:spPr>
          <a:xfrm>
            <a:off x="1079183" y="2929057"/>
            <a:ext cx="12471916" cy="1084421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913D417-0847-6377-5179-0C59832281CF}"/>
              </a:ext>
            </a:extLst>
          </p:cNvPr>
          <p:cNvSpPr/>
          <p:nvPr/>
        </p:nvSpPr>
        <p:spPr>
          <a:xfrm>
            <a:off x="1102043" y="2951917"/>
            <a:ext cx="722948" cy="1038701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7C9131C-395A-A446-7EF5-59FDE01BEE88}"/>
              </a:ext>
            </a:extLst>
          </p:cNvPr>
          <p:cNvSpPr/>
          <p:nvPr/>
        </p:nvSpPr>
        <p:spPr>
          <a:xfrm>
            <a:off x="1327904" y="3301841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1C86BDD-45CB-3421-AD35-26B5322BAE33}"/>
              </a:ext>
            </a:extLst>
          </p:cNvPr>
          <p:cNvSpPr/>
          <p:nvPr/>
        </p:nvSpPr>
        <p:spPr>
          <a:xfrm>
            <a:off x="1968937" y="313265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Magán et al.</a:t>
            </a:r>
            <a:endParaRPr lang="en-US" sz="1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547517E-6376-D838-EA90-51CCA38B1245}"/>
              </a:ext>
            </a:extLst>
          </p:cNvPr>
          <p:cNvSpPr/>
          <p:nvPr/>
        </p:nvSpPr>
        <p:spPr>
          <a:xfrm>
            <a:off x="1968937" y="3501390"/>
            <a:ext cx="1137856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 learning on sequential image frames improves accuracy over single-frame detection.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1561082-802E-7998-0A9A-C32D54D82BC5}"/>
              </a:ext>
            </a:extLst>
          </p:cNvPr>
          <p:cNvSpPr/>
          <p:nvPr/>
        </p:nvSpPr>
        <p:spPr>
          <a:xfrm>
            <a:off x="1079183" y="4157424"/>
            <a:ext cx="12471916" cy="1084421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B162359-2763-2918-8E4B-6CF0E201545A}"/>
              </a:ext>
            </a:extLst>
          </p:cNvPr>
          <p:cNvSpPr/>
          <p:nvPr/>
        </p:nvSpPr>
        <p:spPr>
          <a:xfrm>
            <a:off x="1102043" y="4180284"/>
            <a:ext cx="722948" cy="1038701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8AB1B5F-8230-F89C-F137-36902590CBE8}"/>
              </a:ext>
            </a:extLst>
          </p:cNvPr>
          <p:cNvSpPr/>
          <p:nvPr/>
        </p:nvSpPr>
        <p:spPr>
          <a:xfrm>
            <a:off x="1327904" y="4530209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CBE1D81-05DA-B0A3-3951-125CA5B547A0}"/>
              </a:ext>
            </a:extLst>
          </p:cNvPr>
          <p:cNvSpPr/>
          <p:nvPr/>
        </p:nvSpPr>
        <p:spPr>
          <a:xfrm>
            <a:off x="1968937" y="4361021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Zambrano et al.</a:t>
            </a:r>
            <a:endParaRPr lang="en-US" sz="17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3A1E799-0851-9FBF-635E-D53D279CE36C}"/>
              </a:ext>
            </a:extLst>
          </p:cNvPr>
          <p:cNvSpPr/>
          <p:nvPr/>
        </p:nvSpPr>
        <p:spPr>
          <a:xfrm>
            <a:off x="1968937" y="4729758"/>
            <a:ext cx="1137856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 + MAR with CNN detects fatigue, distraction &amp; emotion under varied lighting conditions.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59E49DC-ADAF-4CC2-A806-E86A5AC042FD}"/>
              </a:ext>
            </a:extLst>
          </p:cNvPr>
          <p:cNvSpPr/>
          <p:nvPr/>
        </p:nvSpPr>
        <p:spPr>
          <a:xfrm>
            <a:off x="1079183" y="5385792"/>
            <a:ext cx="12471916" cy="1084421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79CDA8A-F431-2D2E-9CBD-020FBEDDA985}"/>
              </a:ext>
            </a:extLst>
          </p:cNvPr>
          <p:cNvSpPr/>
          <p:nvPr/>
        </p:nvSpPr>
        <p:spPr>
          <a:xfrm>
            <a:off x="1102043" y="5408652"/>
            <a:ext cx="722948" cy="1038701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EF1683B-9871-0273-3A35-85C1F7078B43}"/>
              </a:ext>
            </a:extLst>
          </p:cNvPr>
          <p:cNvSpPr/>
          <p:nvPr/>
        </p:nvSpPr>
        <p:spPr>
          <a:xfrm>
            <a:off x="1327904" y="5758577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85D6A4A-1020-5DC1-7117-BA25AE1237E6}"/>
              </a:ext>
            </a:extLst>
          </p:cNvPr>
          <p:cNvSpPr/>
          <p:nvPr/>
        </p:nvSpPr>
        <p:spPr>
          <a:xfrm>
            <a:off x="1968937" y="558938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Krishna et al.</a:t>
            </a:r>
            <a:endParaRPr lang="en-US" sz="17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5D50368-3F55-921C-49C5-266124CD675A}"/>
              </a:ext>
            </a:extLst>
          </p:cNvPr>
          <p:cNvSpPr/>
          <p:nvPr/>
        </p:nvSpPr>
        <p:spPr>
          <a:xfrm>
            <a:off x="1968937" y="5958126"/>
            <a:ext cx="1137856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YOLO + Vision Transformers achieve ~96% accuracy — outperforming CNN-only models.</a:t>
            </a:r>
            <a:endParaRPr lang="en-US" sz="14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B3D5F13-A761-293D-3234-047B4E108647}"/>
              </a:ext>
            </a:extLst>
          </p:cNvPr>
          <p:cNvSpPr/>
          <p:nvPr/>
        </p:nvSpPr>
        <p:spPr>
          <a:xfrm>
            <a:off x="1079183" y="6614160"/>
            <a:ext cx="12471916" cy="1084421"/>
          </a:xfrm>
          <a:prstGeom prst="roundRect">
            <a:avLst>
              <a:gd name="adj" fmla="val 2500"/>
            </a:avLst>
          </a:prstGeom>
          <a:solidFill>
            <a:srgbClr val="FBFAFF"/>
          </a:solidFill>
          <a:ln w="22860">
            <a:solidFill>
              <a:srgbClr val="D0CE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4D4C8086-7A3B-09CF-3832-A336975F6990}"/>
              </a:ext>
            </a:extLst>
          </p:cNvPr>
          <p:cNvSpPr/>
          <p:nvPr/>
        </p:nvSpPr>
        <p:spPr>
          <a:xfrm>
            <a:off x="1102043" y="6637020"/>
            <a:ext cx="722948" cy="1038701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1188A13-8E42-54A6-C3BE-77FFFF197256}"/>
              </a:ext>
            </a:extLst>
          </p:cNvPr>
          <p:cNvSpPr/>
          <p:nvPr/>
        </p:nvSpPr>
        <p:spPr>
          <a:xfrm>
            <a:off x="1327904" y="6986945"/>
            <a:ext cx="271105" cy="338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C7DFD4E-B758-A30A-7AA1-E20322CE4236}"/>
              </a:ext>
            </a:extLst>
          </p:cNvPr>
          <p:cNvSpPr/>
          <p:nvPr/>
        </p:nvSpPr>
        <p:spPr>
          <a:xfrm>
            <a:off x="1968937" y="681775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Kumar et al.</a:t>
            </a:r>
            <a:endParaRPr lang="en-US" sz="17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45D0DA5-B928-9E22-8EC7-A6A94123ED54}"/>
              </a:ext>
            </a:extLst>
          </p:cNvPr>
          <p:cNvSpPr/>
          <p:nvPr/>
        </p:nvSpPr>
        <p:spPr>
          <a:xfrm>
            <a:off x="1968937" y="7186493"/>
            <a:ext cx="11378565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CNN-based blink rate &amp; eye closure analysis optimized for real-time Indian road conditions.</a:t>
            </a:r>
            <a:endParaRPr lang="en-US" sz="14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AB0C96-386C-74C7-29DC-A95BCAAA0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193" y="7784901"/>
            <a:ext cx="1914792" cy="35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01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AA3B4ED-E932-BDCC-1238-F44F4D1B57C4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1338146"/>
          <a:ext cx="9753600" cy="53302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3600">
                  <a:extLst>
                    <a:ext uri="{9D8B030D-6E8A-4147-A177-3AD203B41FA5}">
                      <a16:colId xmlns:a16="http://schemas.microsoft.com/office/drawing/2014/main" val="1826011849"/>
                    </a:ext>
                  </a:extLst>
                </a:gridCol>
              </a:tblGrid>
              <a:tr h="5330282">
                <a:tc>
                  <a:txBody>
                    <a:bodyPr/>
                    <a:lstStyle/>
                    <a:p>
                      <a:r>
                        <a:rPr lang="en-US" sz="9600" dirty="0"/>
                        <a:t>       </a:t>
                      </a:r>
                    </a:p>
                    <a:p>
                      <a:r>
                        <a:rPr lang="en-US" sz="9600" dirty="0"/>
                        <a:t>        </a:t>
                      </a:r>
                      <a:r>
                        <a:rPr lang="en-US" sz="9600" dirty="0">
                          <a:solidFill>
                            <a:srgbClr val="5B2ECC"/>
                          </a:solidFill>
                        </a:rPr>
                        <a:t>Thank You</a:t>
                      </a:r>
                      <a:endParaRPr lang="en-IN" sz="9600" dirty="0">
                        <a:solidFill>
                          <a:srgbClr val="5B2ECC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431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553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1103</Words>
  <Application>Microsoft Office PowerPoint</Application>
  <PresentationFormat>Custom</PresentationFormat>
  <Paragraphs>168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Libre Baskerville</vt:lpstr>
      <vt:lpstr>Times New Roman</vt:lpstr>
      <vt:lpstr>Open Sans</vt:lpstr>
      <vt:lpstr>Wingdings</vt:lpstr>
      <vt:lpstr>Monotype Corsiva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Sameer Meshram</cp:lastModifiedBy>
  <cp:revision>2</cp:revision>
  <dcterms:created xsi:type="dcterms:W3CDTF">2026-04-13T17:20:55Z</dcterms:created>
  <dcterms:modified xsi:type="dcterms:W3CDTF">2026-04-15T04:10:34Z</dcterms:modified>
</cp:coreProperties>
</file>