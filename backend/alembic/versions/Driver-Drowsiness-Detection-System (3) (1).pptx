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49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Driver Drowsiness Detection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1264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facial recognition for enhanced road safety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Sneha Narsale, Tejaswini Mane, Sanjana Manjulkar, Payal Khandagale, Savita Biradar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6116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of Computer Engineering, Zeal Polytechnic, Pune, India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954" y="807839"/>
            <a:ext cx="5557480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7954" y="1829276"/>
            <a:ext cx="3685103" cy="2863334"/>
          </a:xfrm>
          <a:prstGeom prst="roundRect">
            <a:avLst>
              <a:gd name="adj" fmla="val 1165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44" y="2051566"/>
            <a:ext cx="666869" cy="66686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3600" y="2234922"/>
            <a:ext cx="300038" cy="30003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00244" y="2936200"/>
            <a:ext cx="3207544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Monitoring</a:t>
            </a:r>
            <a:endParaRPr lang="en-US" sz="2150" dirty="0"/>
          </a:p>
        </p:txBody>
      </p:sp>
      <p:sp>
        <p:nvSpPr>
          <p:cNvPr id="8" name="Text 3"/>
          <p:cNvSpPr/>
          <p:nvPr/>
        </p:nvSpPr>
        <p:spPr>
          <a:xfrm>
            <a:off x="1000244" y="3414117"/>
            <a:ext cx="3240524" cy="105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recognition tracks eye movements, blink frequency, head orientation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4680823" y="1829276"/>
            <a:ext cx="3685223" cy="2863334"/>
          </a:xfrm>
          <a:prstGeom prst="roundRect">
            <a:avLst>
              <a:gd name="adj" fmla="val 1165"/>
            </a:avLst>
          </a:prstGeom>
          <a:solidFill>
            <a:srgbClr val="EAE8F3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113" y="2051566"/>
            <a:ext cx="666869" cy="666869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6469" y="2234922"/>
            <a:ext cx="300038" cy="3000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03113" y="2936200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Adaptive Alerts</a:t>
            </a:r>
            <a:endParaRPr lang="en-US" sz="2150" dirty="0"/>
          </a:p>
        </p:txBody>
      </p:sp>
      <p:sp>
        <p:nvSpPr>
          <p:cNvPr id="13" name="Text 6"/>
          <p:cNvSpPr/>
          <p:nvPr/>
        </p:nvSpPr>
        <p:spPr>
          <a:xfrm>
            <a:off x="4903113" y="3414117"/>
            <a:ext cx="3240643" cy="105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Timely warnings and break recommendations based on fatigue indicators</a:t>
            </a:r>
            <a:endParaRPr lang="en-US" sz="1750" dirty="0"/>
          </a:p>
        </p:txBody>
      </p:sp>
      <p:sp>
        <p:nvSpPr>
          <p:cNvPr id="14" name="Shape 7"/>
          <p:cNvSpPr/>
          <p:nvPr/>
        </p:nvSpPr>
        <p:spPr>
          <a:xfrm>
            <a:off x="777954" y="4910376"/>
            <a:ext cx="7588091" cy="2511266"/>
          </a:xfrm>
          <a:prstGeom prst="roundRect">
            <a:avLst>
              <a:gd name="adj" fmla="val 1328"/>
            </a:avLst>
          </a:prstGeom>
          <a:solidFill>
            <a:srgbClr val="EAE8F3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244" y="5132665"/>
            <a:ext cx="666869" cy="666869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600" y="5316022"/>
            <a:ext cx="300038" cy="30003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0244" y="6017300"/>
            <a:ext cx="294858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Safety Enhancement</a:t>
            </a:r>
            <a:endParaRPr lang="en-US" sz="2150" dirty="0"/>
          </a:p>
        </p:txBody>
      </p:sp>
      <p:sp>
        <p:nvSpPr>
          <p:cNvPr id="18" name="Text 9"/>
          <p:cNvSpPr/>
          <p:nvPr/>
        </p:nvSpPr>
        <p:spPr>
          <a:xfrm>
            <a:off x="1000244" y="6495217"/>
            <a:ext cx="7143512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accident risk through proactive, human-centered mechanism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55" y="632579"/>
            <a:ext cx="5592961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2955" y="1883212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Emotion-Aware 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82955" y="2453402"/>
            <a:ext cx="3516154" cy="142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and interprets human emotions through facial expressions, voice patterns, behavioral signals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2511" y="1883212"/>
            <a:ext cx="341483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Impact on Performance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2511" y="2453402"/>
            <a:ext cx="3516154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Emotional states affect concentration, motivation, decision-making, productivity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2955" y="4321612"/>
            <a:ext cx="22371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55" y="4671179"/>
            <a:ext cx="3678674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2955" y="4843939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Detect Fatigue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82955" y="5325785"/>
            <a:ext cx="3678674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facial cues analysis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682252" y="4321612"/>
            <a:ext cx="22371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52" y="4671179"/>
            <a:ext cx="3678793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2252" y="4843939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 Responses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682252" y="5325785"/>
            <a:ext cx="3678793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Adjust alerts and assistance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82955" y="6069568"/>
            <a:ext cx="22371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5" y="6396871"/>
            <a:ext cx="7578090" cy="30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2955" y="6591895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 Safety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82955" y="7073741"/>
            <a:ext cx="7578090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stress, enhance well-being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67239"/>
            <a:ext cx="5688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Definition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10" y="1816179"/>
            <a:ext cx="121920" cy="17308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2073473"/>
            <a:ext cx="3382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Traditional Limitations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425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Vehicle safety systems assume constant vigilance, ignore behavioral factors affecting driving performance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773805"/>
            <a:ext cx="121920" cy="17308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52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Indicators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425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 to recognize real-time fatigue signs: prolonged eye closure, slow blinking, head nodding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5731431"/>
            <a:ext cx="121920" cy="17308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2524" y="5988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Gap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425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Need reliable, privacy-friendly, vision-based systems with adaptive warnings and break recommendations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11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Literature Review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54353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543538"/>
            <a:ext cx="31412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Drowsiness Detection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033957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cues, eye movements, physiological signals. CNNs and feature embedding improved accuracy in real-time conditions.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54353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543538"/>
            <a:ext cx="3035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Adaptive Monitoring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033957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drowsiness indicators adjust alert intensity, suggest breaks, modify assistance levels.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54353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Privacy Concerns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033957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processing raises privacy issues. Local device-based solutions provide personalized safety without external data transmission.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25560"/>
            <a:ext cx="63059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Comparative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74501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Traditional Alerts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391733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warnings, no fatigue tracking, limited effectiveness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6745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2901315"/>
            <a:ext cx="31369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Cloud-Based Systems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39173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Detailed analysis, adaptive warnings, privacy concerns, requires internet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3406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On-Device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6513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detection, offline functionality, secure data, optimal balance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12696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System Architecture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473" y="2315766"/>
            <a:ext cx="1104424" cy="1325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8923" y="2536627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Video Recording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578923" y="3010733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 extraction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3641050"/>
            <a:ext cx="1104424" cy="13252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78923" y="3861911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Face Detection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578923" y="4336018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Landmark marking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4966335"/>
            <a:ext cx="1104424" cy="13252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8923" y="5187196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Analysis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578923" y="5661303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EAR, MOR, NLR calculation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6291620"/>
            <a:ext cx="1104424" cy="13252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78923" y="6512481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Threshold Check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7578923" y="6986587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Fatigue determination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778" y="902375"/>
            <a:ext cx="5320546" cy="62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Components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898446" y="2089190"/>
            <a:ext cx="199549" cy="898327"/>
          </a:xfrm>
          <a:prstGeom prst="roundRect">
            <a:avLst>
              <a:gd name="adj" fmla="val 15008"/>
            </a:avLst>
          </a:prstGeom>
          <a:solidFill>
            <a:srgbClr val="EAE8F3"/>
          </a:solidFill>
          <a:ln/>
        </p:spPr>
      </p:sp>
      <p:sp>
        <p:nvSpPr>
          <p:cNvPr id="5" name="Shape 2"/>
          <p:cNvSpPr/>
          <p:nvPr/>
        </p:nvSpPr>
        <p:spPr>
          <a:xfrm>
            <a:off x="698778" y="1958102"/>
            <a:ext cx="598884" cy="598884"/>
          </a:xfrm>
          <a:prstGeom prst="roundRect">
            <a:avLst>
              <a:gd name="adj" fmla="val 76342"/>
            </a:avLst>
          </a:prstGeom>
          <a:solidFill>
            <a:srgbClr val="EAE8F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439" y="2107763"/>
            <a:ext cx="299442" cy="299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3279" y="1989296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Android UI Layer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473279" y="2406610"/>
            <a:ext cx="6971943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Login, dashboard, real-time alerts, safety notifications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1197888" y="3462695"/>
            <a:ext cx="199549" cy="898327"/>
          </a:xfrm>
          <a:prstGeom prst="roundRect">
            <a:avLst>
              <a:gd name="adj" fmla="val 15008"/>
            </a:avLst>
          </a:prstGeom>
          <a:solidFill>
            <a:srgbClr val="EAE8F3"/>
          </a:solidFill>
          <a:ln/>
        </p:spPr>
      </p:sp>
      <p:sp>
        <p:nvSpPr>
          <p:cNvPr id="10" name="Shape 6"/>
          <p:cNvSpPr/>
          <p:nvPr/>
        </p:nvSpPr>
        <p:spPr>
          <a:xfrm>
            <a:off x="998220" y="3331607"/>
            <a:ext cx="598884" cy="598884"/>
          </a:xfrm>
          <a:prstGeom prst="roundRect">
            <a:avLst>
              <a:gd name="adj" fmla="val 76342"/>
            </a:avLst>
          </a:prstGeom>
          <a:solidFill>
            <a:srgbClr val="EAE8F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882" y="3481268"/>
            <a:ext cx="299442" cy="299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72722" y="3362801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Fatigue Detection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772722" y="3780115"/>
            <a:ext cx="6672501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models analyze eye closure, head position, yawning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1497330" y="4836200"/>
            <a:ext cx="199549" cy="1117402"/>
          </a:xfrm>
          <a:prstGeom prst="roundRect">
            <a:avLst>
              <a:gd name="adj" fmla="val 15008"/>
            </a:avLst>
          </a:prstGeom>
          <a:solidFill>
            <a:srgbClr val="EAE8F3"/>
          </a:solidFill>
          <a:ln/>
        </p:spPr>
      </p:sp>
      <p:sp>
        <p:nvSpPr>
          <p:cNvPr id="15" name="Shape 10"/>
          <p:cNvSpPr/>
          <p:nvPr/>
        </p:nvSpPr>
        <p:spPr>
          <a:xfrm>
            <a:off x="1297662" y="4705112"/>
            <a:ext cx="598884" cy="598884"/>
          </a:xfrm>
          <a:prstGeom prst="roundRect">
            <a:avLst>
              <a:gd name="adj" fmla="val 76342"/>
            </a:avLst>
          </a:prstGeom>
          <a:solidFill>
            <a:srgbClr val="EAE8F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7324" y="4854773"/>
            <a:ext cx="299442" cy="2994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72164" y="4736306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Alert System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2072164" y="5153620"/>
            <a:ext cx="6373058" cy="60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Dynamically adjusts intensity, recommends breaks, modifies assistance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1796772" y="6428780"/>
            <a:ext cx="199549" cy="898327"/>
          </a:xfrm>
          <a:prstGeom prst="roundRect">
            <a:avLst>
              <a:gd name="adj" fmla="val 15008"/>
            </a:avLst>
          </a:prstGeom>
          <a:solidFill>
            <a:srgbClr val="EAE8F3"/>
          </a:solidFill>
          <a:ln/>
        </p:spPr>
      </p:sp>
      <p:sp>
        <p:nvSpPr>
          <p:cNvPr id="20" name="Shape 14"/>
          <p:cNvSpPr/>
          <p:nvPr/>
        </p:nvSpPr>
        <p:spPr>
          <a:xfrm>
            <a:off x="1597104" y="6297692"/>
            <a:ext cx="598884" cy="598884"/>
          </a:xfrm>
          <a:prstGeom prst="roundRect">
            <a:avLst>
              <a:gd name="adj" fmla="val 76342"/>
            </a:avLst>
          </a:prstGeom>
          <a:solidFill>
            <a:srgbClr val="EAE8F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6766" y="6447353"/>
            <a:ext cx="299442" cy="2994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371606" y="6328886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Storage</a:t>
            </a:r>
            <a:endParaRPr lang="en-US" sz="1950" dirty="0"/>
          </a:p>
        </p:txBody>
      </p:sp>
      <p:sp>
        <p:nvSpPr>
          <p:cNvPr id="23" name="Text 16"/>
          <p:cNvSpPr/>
          <p:nvPr/>
        </p:nvSpPr>
        <p:spPr>
          <a:xfrm>
            <a:off x="2371606" y="6746200"/>
            <a:ext cx="6073616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Encrypted database, no external transmission, privacy protection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165" y="818078"/>
            <a:ext cx="5330071" cy="666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6165" y="1784866"/>
            <a:ext cx="3725585" cy="3045023"/>
          </a:xfrm>
          <a:prstGeom prst="roundRect">
            <a:avLst>
              <a:gd name="adj" fmla="val 1050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87" y="1997988"/>
            <a:ext cx="639604" cy="63960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142" y="2173843"/>
            <a:ext cx="287774" cy="2877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59287" y="2837974"/>
            <a:ext cx="3299341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Transformative Approach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959287" y="3624143"/>
            <a:ext cx="3299341" cy="99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safety interventions improve reaction time, reduce crash risk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4672132" y="1784866"/>
            <a:ext cx="3725704" cy="3045023"/>
          </a:xfrm>
          <a:prstGeom prst="roundRect">
            <a:avLst>
              <a:gd name="adj" fmla="val 1050"/>
            </a:avLst>
          </a:prstGeom>
          <a:solidFill>
            <a:srgbClr val="EAE8F3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253" y="1997988"/>
            <a:ext cx="639604" cy="63960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1109" y="2173843"/>
            <a:ext cx="287774" cy="28777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85253" y="2837974"/>
            <a:ext cx="284273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Detection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4885253" y="3291126"/>
            <a:ext cx="3299460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cues, eye closure, head movements enable timely alerts</a:t>
            </a:r>
            <a:endParaRPr lang="en-US" sz="1650" dirty="0"/>
          </a:p>
        </p:txBody>
      </p:sp>
      <p:sp>
        <p:nvSpPr>
          <p:cNvPr id="14" name="Shape 7"/>
          <p:cNvSpPr/>
          <p:nvPr/>
        </p:nvSpPr>
        <p:spPr>
          <a:xfrm>
            <a:off x="746165" y="5030272"/>
            <a:ext cx="7651671" cy="2381131"/>
          </a:xfrm>
          <a:prstGeom prst="roundRect">
            <a:avLst>
              <a:gd name="adj" fmla="val 1343"/>
            </a:avLst>
          </a:prstGeom>
          <a:solidFill>
            <a:srgbClr val="EAE8F3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287" y="5243393"/>
            <a:ext cx="639604" cy="63960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5142" y="5419249"/>
            <a:ext cx="287774" cy="28777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59287" y="608337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Privacy First</a:t>
            </a:r>
            <a:endParaRPr lang="en-US" sz="2050" dirty="0"/>
          </a:p>
        </p:txBody>
      </p:sp>
      <p:sp>
        <p:nvSpPr>
          <p:cNvPr id="18" name="Text 9"/>
          <p:cNvSpPr/>
          <p:nvPr/>
        </p:nvSpPr>
        <p:spPr>
          <a:xfrm>
            <a:off x="959287" y="6536531"/>
            <a:ext cx="7225427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on-device processing ensures offline functionality, secure data management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112" y="843201"/>
            <a:ext cx="5015746" cy="626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References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112" y="1935480"/>
            <a:ext cx="100251" cy="100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9765" y="1825109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Picard, R. W. (1997). Affective Computing. MIT Press.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12" y="2592824"/>
            <a:ext cx="100251" cy="1002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9765" y="2482453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Calvo, R. A., &amp; D'Mello, S. (2010). IEEE Transactions on Affective Computing, 1(1), 18-37.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12" y="3250168"/>
            <a:ext cx="100251" cy="1002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9765" y="3139797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Chen, L., Chen, P., &amp; Lin, Z. (2018). Computers in Human Behavior, 87, 92-101.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12" y="3907512"/>
            <a:ext cx="100251" cy="10025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9765" y="3797141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Hernández, J., &amp; Picard, R. W. (2013). International Conference on Affective Computing.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12" y="4564856"/>
            <a:ext cx="100251" cy="10025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9765" y="4454485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Ko, B., &amp; Kim, J. (2020). Expert Systems with Applications, 142, 112976.</a:t>
            </a:r>
            <a:endParaRPr lang="en-US" sz="15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12" y="5222200"/>
            <a:ext cx="100251" cy="10025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79765" y="5111829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Ji, Q., Zhu, Z., &amp; Lan, P. (2004). IEEE Transactions on Vehicular Technology, 53(4), 1052-1068.</a:t>
            </a:r>
            <a:endParaRPr lang="en-US" sz="15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12" y="5879544"/>
            <a:ext cx="100251" cy="10025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79765" y="5769173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Zhang, X., Wang, Y., &amp; Wang, J. (2018). IEEE Access, 6, 43233-43244.</a:t>
            </a:r>
            <a:endParaRPr lang="en-US" sz="15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112" y="6536888"/>
            <a:ext cx="100251" cy="10025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79765" y="6426518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Abtahi, F., et al. (2014). Computers &amp; Electrical Engineering, 40(1), 59-74.</a:t>
            </a:r>
            <a:endParaRPr lang="en-US" sz="15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112" y="7194233"/>
            <a:ext cx="100251" cy="100251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79765" y="7083862"/>
            <a:ext cx="129485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Lin, C., Liu, C., &amp; Lai, C. (2019). International Journal of Automotive Technology, 20(5), 987-998.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2026-02-25T11:24:40Z</dcterms:created>
  <dcterms:modified xsi:type="dcterms:W3CDTF">2026-02-25T11:24:40Z</dcterms:modified>
</cp:coreProperties>
</file>